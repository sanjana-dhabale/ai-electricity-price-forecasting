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4" r:id="rId6"/>
    <p:sldId id="265" r:id="rId7"/>
    <p:sldId id="260" r:id="rId8"/>
    <p:sldId id="261" r:id="rId9"/>
    <p:sldId id="263" r:id="rId10"/>
    <p:sldId id="266" r:id="rId11"/>
    <p:sldId id="267" r:id="rId12"/>
    <p:sldId id="268" r:id="rId13"/>
    <p:sldId id="262"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50" d="100"/>
          <a:sy n="50" d="100"/>
        </p:scale>
        <p:origin x="1934" y="806"/>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anjana-Dhabale/ai-electricity-price-forecasting" TargetMode="External"/><Relationship Id="rId2" Type="http://schemas.openxmlformats.org/officeDocument/2006/relationships/hyperlink" Target="https://ai-electricity-price-forecasting-arbitrage.streamlit.app/"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277402"/>
            <a:ext cx="12192000" cy="7135402"/>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572927" y="2257260"/>
            <a:ext cx="6870861" cy="954107"/>
          </a:xfrm>
          <a:prstGeom prst="rect">
            <a:avLst/>
          </a:prstGeom>
          <a:noFill/>
        </p:spPr>
        <p:txBody>
          <a:bodyPr wrap="square" rtlCol="0">
            <a:spAutoFit/>
          </a:bodyPr>
          <a:lstStyle/>
          <a:p>
            <a:pPr algn="ctr"/>
            <a:r>
              <a:rPr lang="en-US" sz="2800" b="1" dirty="0">
                <a:solidFill>
                  <a:schemeClr val="bg1"/>
                </a:solidFill>
              </a:rPr>
              <a:t>AI-Driven Electricity Price Forecasting for Energy Arbitrage</a:t>
            </a: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11" name="TextBox 10">
            <a:extLst>
              <a:ext uri="{FF2B5EF4-FFF2-40B4-BE49-F238E27FC236}">
                <a16:creationId xmlns:a16="http://schemas.microsoft.com/office/drawing/2014/main" id="{98E36E6E-AF23-4607-A674-DFBDC0EBFAD1}"/>
              </a:ext>
            </a:extLst>
          </p:cNvPr>
          <p:cNvSpPr txBox="1"/>
          <p:nvPr/>
        </p:nvSpPr>
        <p:spPr>
          <a:xfrm>
            <a:off x="5121910" y="4605692"/>
            <a:ext cx="6177280" cy="379656"/>
          </a:xfrm>
          <a:prstGeom prst="rect">
            <a:avLst/>
          </a:prstGeom>
          <a:noFill/>
        </p:spPr>
        <p:txBody>
          <a:bodyPr wrap="square">
            <a:spAutoFit/>
          </a:bodyPr>
          <a:lstStyle/>
          <a:p>
            <a:r>
              <a:rPr lang="en-US" b="1" dirty="0"/>
              <a:t>Presented By :</a:t>
            </a:r>
            <a:r>
              <a:rPr lang="en-US" dirty="0"/>
              <a:t> Sanjana Sudhakar </a:t>
            </a:r>
            <a:r>
              <a:rPr lang="en-US" dirty="0" err="1"/>
              <a:t>Dhabale</a:t>
            </a:r>
            <a:endParaRPr lang="en-IN" dirty="0"/>
          </a:p>
        </p:txBody>
      </p:sp>
      <p:sp>
        <p:nvSpPr>
          <p:cNvPr id="13" name="TextBox 12">
            <a:extLst>
              <a:ext uri="{FF2B5EF4-FFF2-40B4-BE49-F238E27FC236}">
                <a16:creationId xmlns:a16="http://schemas.microsoft.com/office/drawing/2014/main" id="{F10D51F5-D1B4-4926-9C19-2F6DB0C06861}"/>
              </a:ext>
            </a:extLst>
          </p:cNvPr>
          <p:cNvSpPr txBox="1"/>
          <p:nvPr/>
        </p:nvSpPr>
        <p:spPr>
          <a:xfrm>
            <a:off x="5121910" y="5265503"/>
            <a:ext cx="6101080" cy="379656"/>
          </a:xfrm>
          <a:prstGeom prst="rect">
            <a:avLst/>
          </a:prstGeom>
          <a:noFill/>
        </p:spPr>
        <p:txBody>
          <a:bodyPr wrap="square">
            <a:spAutoFit/>
          </a:bodyPr>
          <a:lstStyle/>
          <a:p>
            <a:r>
              <a:rPr lang="en-IN" b="1" dirty="0"/>
              <a:t>AICTE Student ID :</a:t>
            </a:r>
            <a:r>
              <a:rPr lang="en-IN" dirty="0"/>
              <a:t> STU676abeff89ab11735048959</a:t>
            </a:r>
          </a:p>
        </p:txBody>
      </p:sp>
      <p:sp>
        <p:nvSpPr>
          <p:cNvPr id="15" name="TextBox 14">
            <a:extLst>
              <a:ext uri="{FF2B5EF4-FFF2-40B4-BE49-F238E27FC236}">
                <a16:creationId xmlns:a16="http://schemas.microsoft.com/office/drawing/2014/main" id="{DF94EA94-3BA3-40AE-A8E1-CCE82C3D4D79}"/>
              </a:ext>
            </a:extLst>
          </p:cNvPr>
          <p:cNvSpPr txBox="1"/>
          <p:nvPr/>
        </p:nvSpPr>
        <p:spPr>
          <a:xfrm>
            <a:off x="4824970" y="3491522"/>
            <a:ext cx="6366773" cy="666977"/>
          </a:xfrm>
          <a:prstGeom prst="rect">
            <a:avLst/>
          </a:prstGeom>
          <a:noFill/>
        </p:spPr>
        <p:txBody>
          <a:bodyPr wrap="square">
            <a:spAutoFit/>
          </a:bodyPr>
          <a:lstStyle/>
          <a:p>
            <a:pPr algn="ctr"/>
            <a:r>
              <a:rPr lang="en-US" dirty="0">
                <a:solidFill>
                  <a:schemeClr val="bg1"/>
                </a:solidFill>
              </a:rPr>
              <a:t>A "Green Skills" Project for the Shell-</a:t>
            </a:r>
            <a:r>
              <a:rPr lang="en-US" dirty="0" err="1">
                <a:solidFill>
                  <a:schemeClr val="bg1"/>
                </a:solidFill>
              </a:rPr>
              <a:t>Edunet</a:t>
            </a:r>
            <a:r>
              <a:rPr lang="en-US" dirty="0">
                <a:solidFill>
                  <a:schemeClr val="bg1"/>
                </a:solidFill>
              </a:rPr>
              <a:t> Skills4Future AICTE Internship</a:t>
            </a: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374791" y="987777"/>
            <a:ext cx="4349609" cy="584775"/>
          </a:xfrm>
          <a:prstGeom prst="rect">
            <a:avLst/>
          </a:prstGeom>
          <a:noFill/>
        </p:spPr>
        <p:txBody>
          <a:bodyPr wrap="square">
            <a:spAutoFit/>
          </a:bodyPr>
          <a:lstStyle/>
          <a:p>
            <a:r>
              <a:rPr lang="en-IN" sz="3200" b="1" dirty="0">
                <a:solidFill>
                  <a:srgbClr val="213163"/>
                </a:solidFill>
                <a:latin typeface="Cambria" panose="02040503050406030204" pitchFamily="18" charset="0"/>
                <a:ea typeface="Cambria" panose="02040503050406030204" pitchFamily="18" charset="0"/>
              </a:rPr>
              <a:t>Learning Objectives</a:t>
            </a:r>
            <a:endParaRPr lang="en-IN" sz="3200" dirty="0">
              <a:solidFill>
                <a:srgbClr val="213163"/>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9" name="TextBox 8">
            <a:extLst>
              <a:ext uri="{FF2B5EF4-FFF2-40B4-BE49-F238E27FC236}">
                <a16:creationId xmlns:a16="http://schemas.microsoft.com/office/drawing/2014/main" id="{865568A5-4910-4700-AB1C-64853C751D8D}"/>
              </a:ext>
            </a:extLst>
          </p:cNvPr>
          <p:cNvSpPr txBox="1"/>
          <p:nvPr/>
        </p:nvSpPr>
        <p:spPr>
          <a:xfrm>
            <a:off x="345440" y="1796742"/>
            <a:ext cx="6990081" cy="3477875"/>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Apply Machine Learning (</a:t>
            </a:r>
            <a:r>
              <a:rPr lang="en-US" sz="2000" dirty="0" err="1">
                <a:solidFill>
                  <a:schemeClr val="tx1"/>
                </a:solidFill>
                <a:latin typeface="Cambria" panose="02040503050406030204" pitchFamily="18" charset="0"/>
                <a:ea typeface="Cambria" panose="02040503050406030204" pitchFamily="18" charset="0"/>
              </a:rPr>
              <a:t>XGBoost</a:t>
            </a:r>
            <a:r>
              <a:rPr lang="en-US" sz="2000" dirty="0">
                <a:solidFill>
                  <a:schemeClr val="tx1"/>
                </a:solidFill>
                <a:latin typeface="Cambria" panose="02040503050406030204" pitchFamily="18" charset="0"/>
                <a:ea typeface="Cambria" panose="02040503050406030204" pitchFamily="18" charset="0"/>
              </a:rPr>
              <a:t>) to solve a complex, real-world time-series forecasting problem. </a:t>
            </a:r>
          </a:p>
          <a:p>
            <a:pPr marL="342900" indent="-342900">
              <a:buFont typeface="Arial" panose="020B0604020202020204" pitchFamily="34" charset="0"/>
              <a:buChar char="•"/>
            </a:pPr>
            <a:r>
              <a:rPr lang="en-US" sz="2000" b="1" dirty="0">
                <a:solidFill>
                  <a:schemeClr val="tx1"/>
                </a:solidFill>
                <a:latin typeface="Cambria" panose="02040503050406030204" pitchFamily="18" charset="0"/>
                <a:ea typeface="Cambria" panose="02040503050406030204" pitchFamily="18" charset="0"/>
              </a:rPr>
              <a:t>Build an end-to-end ML pipeline : </a:t>
            </a:r>
            <a:r>
              <a:rPr lang="en-US" sz="2000" dirty="0">
                <a:solidFill>
                  <a:schemeClr val="tx1"/>
                </a:solidFill>
                <a:latin typeface="Cambria" panose="02040503050406030204" pitchFamily="18" charset="0"/>
                <a:ea typeface="Cambria" panose="02040503050406030204" pitchFamily="18" charset="0"/>
              </a:rPr>
              <a:t>Data Preprocessing </a:t>
            </a:r>
            <a:r>
              <a:rPr lang="en-IN" sz="2000" b="0" i="0" dirty="0">
                <a:solidFill>
                  <a:schemeClr val="tx1"/>
                </a:solidFill>
                <a:effectLst/>
                <a:latin typeface="Cambria" panose="02040503050406030204" pitchFamily="18" charset="0"/>
                <a:ea typeface="Cambria" panose="02040503050406030204" pitchFamily="18" charset="0"/>
              </a:rPr>
              <a:t>→ </a:t>
            </a:r>
            <a:r>
              <a:rPr lang="en-US" sz="2000" dirty="0">
                <a:solidFill>
                  <a:schemeClr val="tx1"/>
                </a:solidFill>
                <a:latin typeface="Cambria" panose="02040503050406030204" pitchFamily="18" charset="0"/>
                <a:ea typeface="Cambria" panose="02040503050406030204" pitchFamily="18" charset="0"/>
              </a:rPr>
              <a:t>Feature Engineering </a:t>
            </a:r>
            <a:r>
              <a:rPr lang="en-IN" sz="2000" b="0" i="0" dirty="0">
                <a:solidFill>
                  <a:schemeClr val="tx1"/>
                </a:solidFill>
                <a:effectLst/>
                <a:latin typeface="Cambria" panose="02040503050406030204" pitchFamily="18" charset="0"/>
                <a:ea typeface="Cambria" panose="02040503050406030204" pitchFamily="18" charset="0"/>
              </a:rPr>
              <a:t>→ </a:t>
            </a:r>
            <a:r>
              <a:rPr lang="en-US" sz="2000" dirty="0">
                <a:solidFill>
                  <a:schemeClr val="tx1"/>
                </a:solidFill>
                <a:latin typeface="Cambria" panose="02040503050406030204" pitchFamily="18" charset="0"/>
                <a:ea typeface="Cambria" panose="02040503050406030204" pitchFamily="18" charset="0"/>
              </a:rPr>
              <a:t>Model Training </a:t>
            </a:r>
            <a:r>
              <a:rPr lang="en-IN" sz="2000" b="0" i="0" dirty="0">
                <a:solidFill>
                  <a:schemeClr val="tx1"/>
                </a:solidFill>
                <a:effectLst/>
                <a:latin typeface="Cambria" panose="02040503050406030204" pitchFamily="18" charset="0"/>
                <a:ea typeface="Cambria" panose="02040503050406030204" pitchFamily="18" charset="0"/>
              </a:rPr>
              <a:t>→ </a:t>
            </a:r>
            <a:r>
              <a:rPr lang="en-US" sz="2000" dirty="0">
                <a:solidFill>
                  <a:schemeClr val="tx1"/>
                </a:solidFill>
                <a:latin typeface="Cambria" panose="02040503050406030204" pitchFamily="18" charset="0"/>
                <a:ea typeface="Cambria" panose="02040503050406030204" pitchFamily="18" charset="0"/>
              </a:rPr>
              <a:t>Evaluation. </a:t>
            </a:r>
          </a:p>
          <a:p>
            <a:pPr marL="342900" indent="-342900">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Simulate a complex business logic (arbitrage) using the model's predictions to evaluate financial performance. </a:t>
            </a:r>
          </a:p>
          <a:p>
            <a:pPr marL="342900" indent="-342900">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Evaluate the model using key regression metrics (RMSE, MAE) and the business case using financial metrics (Total Profit). </a:t>
            </a:r>
          </a:p>
          <a:p>
            <a:pPr marL="342900" indent="-342900">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Deploy the complete system as a live, interactive web application using </a:t>
            </a:r>
            <a:r>
              <a:rPr lang="en-US" sz="2000" dirty="0" err="1">
                <a:solidFill>
                  <a:schemeClr val="tx1"/>
                </a:solidFill>
                <a:latin typeface="Cambria" panose="02040503050406030204" pitchFamily="18" charset="0"/>
                <a:ea typeface="Cambria" panose="02040503050406030204" pitchFamily="18" charset="0"/>
              </a:rPr>
              <a:t>Streamlit</a:t>
            </a:r>
            <a:r>
              <a:rPr lang="en-US" sz="2000" dirty="0">
                <a:solidFill>
                  <a:schemeClr val="tx1"/>
                </a:solidFill>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47314" y="1067664"/>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T</a:t>
            </a:r>
            <a:r>
              <a:rPr lang="en-IN" sz="3200" b="1" dirty="0" err="1">
                <a:solidFill>
                  <a:srgbClr val="213163"/>
                </a:solidFill>
                <a:latin typeface="Cambria" panose="02040503050406030204" pitchFamily="18" charset="0"/>
                <a:ea typeface="Cambria" panose="02040503050406030204" pitchFamily="18" charset="0"/>
              </a:rPr>
              <a:t>ools</a:t>
            </a:r>
            <a:r>
              <a:rPr lang="en-IN" sz="3200" b="1" dirty="0">
                <a:solidFill>
                  <a:srgbClr val="213163"/>
                </a:solidFill>
                <a:latin typeface="Cambria" panose="02040503050406030204" pitchFamily="18" charset="0"/>
                <a:ea typeface="Cambria" panose="02040503050406030204" pitchFamily="18" charset="0"/>
              </a:rPr>
              <a:t> and Technology used </a:t>
            </a:r>
          </a:p>
        </p:txBody>
      </p:sp>
      <p:sp>
        <p:nvSpPr>
          <p:cNvPr id="8" name="Rectangle 5">
            <a:extLst>
              <a:ext uri="{FF2B5EF4-FFF2-40B4-BE49-F238E27FC236}">
                <a16:creationId xmlns:a16="http://schemas.microsoft.com/office/drawing/2014/main" id="{49C2EC10-F248-4075-900A-7533A582687B}"/>
              </a:ext>
            </a:extLst>
          </p:cNvPr>
          <p:cNvSpPr>
            <a:spLocks noChangeArrowheads="1"/>
          </p:cNvSpPr>
          <p:nvPr/>
        </p:nvSpPr>
        <p:spPr bwMode="auto">
          <a:xfrm rot="10800000" flipH="1" flipV="1">
            <a:off x="746760" y="1898286"/>
            <a:ext cx="854964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Programming Language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Python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Data Handling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Pandas &amp; NumPy (For data manipulation, cleaning, and processing).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Machine Learning : </a:t>
            </a:r>
          </a:p>
          <a:p>
            <a:pPr marL="342900" lvl="1" indent="-342900" eaLnBrk="0" fontAlgn="base" hangingPunct="0">
              <a:spcBef>
                <a:spcPct val="0"/>
              </a:spcBef>
              <a:spcAft>
                <a:spcPct val="0"/>
              </a:spcAft>
              <a:buClrTx/>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Scikit-learn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data splitting and </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StandardScaler</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(feature scaling).</a:t>
            </a:r>
            <a:r>
              <a:rPr lang="en-US" altLang="en-US" sz="2000" dirty="0">
                <a:solidFill>
                  <a:schemeClr val="tx1"/>
                </a:solidFill>
                <a:latin typeface="Cambria" panose="02040503050406030204" pitchFamily="18" charset="0"/>
                <a:ea typeface="Cambria" panose="02040503050406030204" pitchFamily="18" charset="0"/>
              </a:rPr>
              <a:t> </a:t>
            </a:r>
          </a:p>
          <a:p>
            <a:pPr marL="342900" lvl="1" indent="-342900" eaLnBrk="0" fontAlgn="base" hangingPunct="0">
              <a:spcBef>
                <a:spcPct val="0"/>
              </a:spcBef>
              <a:spcAft>
                <a:spcPct val="0"/>
              </a:spcAft>
              <a:buClrTx/>
              <a:buFont typeface="Wingdings" panose="05000000000000000000" pitchFamily="2" charset="2"/>
              <a:buChar char="Ø"/>
            </a:pPr>
            <a:r>
              <a:rPr kumimoji="0" lang="en-US" altLang="en-US" sz="20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XGBoost</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high-performance gradient-boosting model used for price forecasting.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Visualization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Matplotlib, Seaborn, and </a:t>
            </a:r>
            <a:r>
              <a:rPr kumimoji="0" lang="en-US" altLang="en-US" sz="20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Plotly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interactive charts in the app).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Deployment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20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Streamlit</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building and hosting the interactive web application).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Model Management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Joblib</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saving and loading the trained model and scaler files).</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73156" y="1243256"/>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Methodology </a:t>
            </a:r>
            <a:endParaRPr lang="en-IN" sz="3200" dirty="0">
              <a:solidFill>
                <a:srgbClr val="213163"/>
              </a:solidFill>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D99029E7-802F-45FB-A03F-CBA5B7B65F8A}"/>
              </a:ext>
            </a:extLst>
          </p:cNvPr>
          <p:cNvSpPr>
            <a:spLocks noChangeArrowheads="1"/>
          </p:cNvSpPr>
          <p:nvPr/>
        </p:nvSpPr>
        <p:spPr bwMode="auto">
          <a:xfrm>
            <a:off x="573156" y="3275112"/>
            <a:ext cx="992720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Task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Data Importing, Pre-Processing, and Visualization.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Action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Loaded and cleaned 4 years of historical energy data. Engineered new time-based features (Hour, Day, Month) to capture trends. Analyzed data to confirm price volatility and arbitrage potential.</a:t>
            </a:r>
          </a:p>
        </p:txBody>
      </p:sp>
      <p:sp>
        <p:nvSpPr>
          <p:cNvPr id="5" name="TextBox 4">
            <a:extLst>
              <a:ext uri="{FF2B5EF4-FFF2-40B4-BE49-F238E27FC236}">
                <a16:creationId xmlns:a16="http://schemas.microsoft.com/office/drawing/2014/main" id="{A5082A50-23BF-4A4D-98AB-A59CF1D2F933}"/>
              </a:ext>
            </a:extLst>
          </p:cNvPr>
          <p:cNvSpPr txBox="1"/>
          <p:nvPr/>
        </p:nvSpPr>
        <p:spPr>
          <a:xfrm>
            <a:off x="573156" y="2438687"/>
            <a:ext cx="6103620" cy="461665"/>
          </a:xfrm>
          <a:prstGeom prst="rect">
            <a:avLst/>
          </a:prstGeom>
          <a:noFill/>
        </p:spPr>
        <p:txBody>
          <a:bodyPr wrap="square">
            <a:spAutoFit/>
          </a:bodyPr>
          <a:lstStyle/>
          <a:p>
            <a:r>
              <a:rPr lang="en-US" sz="2400" b="1" dirty="0">
                <a:latin typeface="Cambria" panose="02040503050406030204" pitchFamily="18" charset="0"/>
                <a:ea typeface="Cambria" panose="02040503050406030204" pitchFamily="18" charset="0"/>
              </a:rPr>
              <a:t>Week 1 : Data Engineering &amp; Exploration</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73156" y="1243256"/>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Methodology </a:t>
            </a:r>
            <a:endParaRPr lang="en-IN" sz="3200" dirty="0">
              <a:solidFill>
                <a:srgbClr val="213163"/>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5082A50-23BF-4A4D-98AB-A59CF1D2F933}"/>
              </a:ext>
            </a:extLst>
          </p:cNvPr>
          <p:cNvSpPr txBox="1"/>
          <p:nvPr/>
        </p:nvSpPr>
        <p:spPr>
          <a:xfrm>
            <a:off x="573156" y="2438687"/>
            <a:ext cx="6103620" cy="461665"/>
          </a:xfrm>
          <a:prstGeom prst="rect">
            <a:avLst/>
          </a:prstGeom>
          <a:noFill/>
        </p:spPr>
        <p:txBody>
          <a:bodyPr wrap="square">
            <a:spAutoFit/>
          </a:bodyPr>
          <a:lstStyle/>
          <a:p>
            <a:r>
              <a:rPr lang="en-US" sz="2400" b="1" dirty="0">
                <a:latin typeface="Cambria" panose="02040503050406030204" pitchFamily="18" charset="0"/>
                <a:ea typeface="Cambria" panose="02040503050406030204" pitchFamily="18" charset="0"/>
              </a:rPr>
              <a:t>Week 2 : Model Building &amp; Evaluation</a:t>
            </a:r>
            <a:endParaRPr lang="en-US" sz="2400" dirty="0">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C853AD1F-3BEF-4E27-B510-E832F119033E}"/>
              </a:ext>
            </a:extLst>
          </p:cNvPr>
          <p:cNvSpPr>
            <a:spLocks noChangeArrowheads="1"/>
          </p:cNvSpPr>
          <p:nvPr/>
        </p:nvSpPr>
        <p:spPr bwMode="auto">
          <a:xfrm>
            <a:off x="573156" y="3398754"/>
            <a:ext cx="997292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Task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Model Selection &amp; Building. </a:t>
            </a:r>
          </a:p>
          <a:p>
            <a:pPr marL="0" marR="0" lvl="0" indent="0" algn="l" defTabSz="914400" rtl="0" eaLnBrk="0" fontAlgn="base" latinLnBrk="0" hangingPunct="0">
              <a:lnSpc>
                <a:spcPct val="100000"/>
              </a:lnSpc>
              <a:spcBef>
                <a:spcPct val="0"/>
              </a:spcBef>
              <a:spcAft>
                <a:spcPct val="0"/>
              </a:spcAft>
              <a:buClrTx/>
              <a:buSzTx/>
              <a:tabLst/>
            </a:pPr>
            <a:endParaRPr lang="en-US" altLang="en-US" sz="2000" dirty="0">
              <a:solidFill>
                <a:schemeClr val="tx1"/>
              </a:solidFill>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Action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Split data into Train/Test sets. Trained and compared Linear Regression (as a baseline) against an </a:t>
            </a:r>
            <a:r>
              <a:rPr kumimoji="0" lang="en-US" altLang="en-US" sz="20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XGBoost</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Regressor</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Selected </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XGBoost</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as the final model and saved it (</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model_price_forecast.joblib</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947995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73156" y="1243256"/>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Methodology </a:t>
            </a:r>
            <a:endParaRPr lang="en-IN" sz="3200" dirty="0">
              <a:solidFill>
                <a:srgbClr val="213163"/>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5082A50-23BF-4A4D-98AB-A59CF1D2F933}"/>
              </a:ext>
            </a:extLst>
          </p:cNvPr>
          <p:cNvSpPr txBox="1"/>
          <p:nvPr/>
        </p:nvSpPr>
        <p:spPr>
          <a:xfrm>
            <a:off x="573156" y="2438687"/>
            <a:ext cx="6103620" cy="461665"/>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Week 3 : Simulation &amp; Deployment</a:t>
            </a:r>
            <a:endParaRPr lang="en-IN" sz="2400" dirty="0">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C853AD1F-3BEF-4E27-B510-E832F119033E}"/>
              </a:ext>
            </a:extLst>
          </p:cNvPr>
          <p:cNvSpPr>
            <a:spLocks noChangeArrowheads="1"/>
          </p:cNvSpPr>
          <p:nvPr/>
        </p:nvSpPr>
        <p:spPr bwMode="auto">
          <a:xfrm>
            <a:off x="573156" y="3398754"/>
            <a:ext cx="997292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Cambria" panose="02040503050406030204" pitchFamily="18" charset="0"/>
                <a:ea typeface="Cambria" panose="02040503050406030204" pitchFamily="18" charset="0"/>
              </a:rPr>
              <a:t>Task :</a:t>
            </a:r>
            <a:r>
              <a:rPr lang="en-US" sz="2000" dirty="0">
                <a:latin typeface="Cambria" panose="02040503050406030204" pitchFamily="18" charset="0"/>
                <a:ea typeface="Cambria" panose="02040503050406030204" pitchFamily="18" charset="0"/>
              </a:rPr>
              <a:t> Model Evaluation, Optimization, and Final Submission. </a:t>
            </a:r>
          </a:p>
          <a:p>
            <a:endParaRPr lang="en-US" sz="2000" b="1"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Action :</a:t>
            </a:r>
            <a:r>
              <a:rPr lang="en-US" sz="2000" dirty="0">
                <a:latin typeface="Cambria" panose="02040503050406030204" pitchFamily="18" charset="0"/>
                <a:ea typeface="Cambria" panose="02040503050406030204" pitchFamily="18" charset="0"/>
              </a:rPr>
              <a:t> Built an "Energy Arbitrage" simulator using the model's predictions. Developed a "Buy/Sell/Hold" logic that generated a positive profit. Designed and deployed the final </a:t>
            </a:r>
            <a:r>
              <a:rPr lang="en-US" sz="2000" dirty="0" err="1">
                <a:latin typeface="Cambria" panose="02040503050406030204" pitchFamily="18" charset="0"/>
                <a:ea typeface="Cambria" panose="02040503050406030204" pitchFamily="18" charset="0"/>
              </a:rPr>
              <a:t>Streamlit</a:t>
            </a:r>
            <a:r>
              <a:rPr lang="en-US" sz="2000" dirty="0">
                <a:latin typeface="Cambria" panose="02040503050406030204" pitchFamily="18" charset="0"/>
                <a:ea typeface="Cambria" panose="02040503050406030204" pitchFamily="18" charset="0"/>
              </a:rPr>
              <a:t> web app.</a:t>
            </a:r>
          </a:p>
        </p:txBody>
      </p:sp>
    </p:spTree>
    <p:extLst>
      <p:ext uri="{BB962C8B-B14F-4D97-AF65-F5344CB8AC3E}">
        <p14:creationId xmlns:p14="http://schemas.microsoft.com/office/powerpoint/2010/main" val="2495292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29424" y="114585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Problem Statement</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C8A2A131-2A7C-42B6-940C-7D94BBBE908B}"/>
              </a:ext>
            </a:extLst>
          </p:cNvPr>
          <p:cNvSpPr txBox="1"/>
          <p:nvPr/>
        </p:nvSpPr>
        <p:spPr>
          <a:xfrm>
            <a:off x="529424" y="2337584"/>
            <a:ext cx="9498496" cy="1323439"/>
          </a:xfrm>
          <a:prstGeom prst="rect">
            <a:avLst/>
          </a:prstGeom>
          <a:noFill/>
        </p:spPr>
        <p:txBody>
          <a:bodyPr wrap="square">
            <a:spAutoFit/>
          </a:bodyPr>
          <a:lstStyle/>
          <a:p>
            <a:r>
              <a:rPr lang="en-US" sz="2000" dirty="0">
                <a:latin typeface="Cambria" panose="02040503050406030204" pitchFamily="18" charset="0"/>
                <a:ea typeface="Cambria" panose="02040503050406030204" pitchFamily="18" charset="0"/>
              </a:rPr>
              <a:t>Electricity prices in competitive markets change rapidly based on demand, generation, and weather. Without predictive insights, energy consumers and battery storage operators cannot optimize when to buy, store, or sell electricity. This leads to high operational costs, grid inefficiency, and financial loss.</a:t>
            </a:r>
          </a:p>
        </p:txBody>
      </p:sp>
    </p:spTree>
    <p:extLst>
      <p:ext uri="{BB962C8B-B14F-4D97-AF65-F5344CB8AC3E}">
        <p14:creationId xmlns:p14="http://schemas.microsoft.com/office/powerpoint/2010/main" val="31965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483704" y="116109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Solution</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29FB3D35-98FF-4FEB-936A-726DA5D2940E}"/>
              </a:ext>
            </a:extLst>
          </p:cNvPr>
          <p:cNvSpPr txBox="1"/>
          <p:nvPr/>
        </p:nvSpPr>
        <p:spPr>
          <a:xfrm>
            <a:off x="651344" y="2453405"/>
            <a:ext cx="9483256" cy="1631216"/>
          </a:xfrm>
          <a:prstGeom prst="rect">
            <a:avLst/>
          </a:prstGeom>
          <a:noFill/>
        </p:spPr>
        <p:txBody>
          <a:bodyPr wrap="square">
            <a:spAutoFit/>
          </a:bodyPr>
          <a:lstStyle/>
          <a:p>
            <a:r>
              <a:rPr lang="en-US" sz="2000" dirty="0">
                <a:latin typeface="Cambria" panose="02040503050406030204" pitchFamily="18" charset="0"/>
                <a:ea typeface="Cambria" panose="02040503050406030204" pitchFamily="18" charset="0"/>
              </a:rPr>
              <a:t>An AI-driven system that </a:t>
            </a:r>
            <a:r>
              <a:rPr lang="en-US" sz="2000" b="1" dirty="0">
                <a:latin typeface="Cambria" panose="02040503050406030204" pitchFamily="18" charset="0"/>
                <a:ea typeface="Cambria" panose="02040503050406030204" pitchFamily="18" charset="0"/>
              </a:rPr>
              <a:t>forecasts</a:t>
            </a:r>
            <a:r>
              <a:rPr lang="en-US" sz="2000" dirty="0">
                <a:latin typeface="Cambria" panose="02040503050406030204" pitchFamily="18" charset="0"/>
                <a:ea typeface="Cambria" panose="02040503050406030204" pitchFamily="18" charset="0"/>
              </a:rPr>
              <a:t> short-term electricity prices with high accuracy. The system uses these forecasts to power a </a:t>
            </a:r>
            <a:r>
              <a:rPr lang="en-US" sz="2000" b="1" dirty="0">
                <a:latin typeface="Cambria" panose="02040503050406030204" pitchFamily="18" charset="0"/>
                <a:ea typeface="Cambria" panose="02040503050406030204" pitchFamily="18" charset="0"/>
              </a:rPr>
              <a:t>simulation</a:t>
            </a:r>
            <a:r>
              <a:rPr lang="en-US" sz="2000" dirty="0">
                <a:latin typeface="Cambria" panose="02040503050406030204" pitchFamily="18" charset="0"/>
                <a:ea typeface="Cambria" panose="02040503050406030204" pitchFamily="18" charset="0"/>
              </a:rPr>
              <a:t> of an energy arbitrage strategy. This provides a clear decision-making tool (deployed as a </a:t>
            </a:r>
            <a:r>
              <a:rPr lang="en-US" sz="2000" dirty="0" err="1">
                <a:latin typeface="Cambria" panose="02040503050406030204" pitchFamily="18" charset="0"/>
                <a:ea typeface="Cambria" panose="02040503050406030204" pitchFamily="18" charset="0"/>
              </a:rPr>
              <a:t>Streamlit</a:t>
            </a:r>
            <a:r>
              <a:rPr lang="en-US" sz="2000" dirty="0">
                <a:latin typeface="Cambria" panose="02040503050406030204" pitchFamily="18" charset="0"/>
                <a:ea typeface="Cambria" panose="02040503050406030204" pitchFamily="18" charset="0"/>
              </a:rPr>
              <a:t> app) that recommends when to "Buy" (charge a battery), "Sell" (discharge), or "Hold" to maximize profit.</a:t>
            </a:r>
          </a:p>
        </p:txBody>
      </p:sp>
    </p:spTree>
    <p:extLst>
      <p:ext uri="{BB962C8B-B14F-4D97-AF65-F5344CB8AC3E}">
        <p14:creationId xmlns:p14="http://schemas.microsoft.com/office/powerpoint/2010/main" val="3002968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Screenshot of Output</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1DE01316-FF70-4DBE-839E-24CDB864E4DD}"/>
              </a:ext>
            </a:extLst>
          </p:cNvPr>
          <p:cNvSpPr txBox="1"/>
          <p:nvPr/>
        </p:nvSpPr>
        <p:spPr>
          <a:xfrm>
            <a:off x="255104" y="1738032"/>
            <a:ext cx="6103620" cy="461665"/>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The Live Application</a:t>
            </a:r>
          </a:p>
        </p:txBody>
      </p:sp>
      <p:pic>
        <p:nvPicPr>
          <p:cNvPr id="8" name="Picture 7">
            <a:extLst>
              <a:ext uri="{FF2B5EF4-FFF2-40B4-BE49-F238E27FC236}">
                <a16:creationId xmlns:a16="http://schemas.microsoft.com/office/drawing/2014/main" id="{2F7AF70A-7093-4113-8C3F-68ED16B9B859}"/>
              </a:ext>
            </a:extLst>
          </p:cNvPr>
          <p:cNvPicPr>
            <a:picLocks noChangeAspect="1"/>
          </p:cNvPicPr>
          <p:nvPr/>
        </p:nvPicPr>
        <p:blipFill>
          <a:blip r:embed="rId2"/>
          <a:stretch>
            <a:fillRect/>
          </a:stretch>
        </p:blipFill>
        <p:spPr>
          <a:xfrm>
            <a:off x="1367140" y="2306377"/>
            <a:ext cx="9457720" cy="4325238"/>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Screenshot of Output</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1DE01316-FF70-4DBE-839E-24CDB864E4DD}"/>
              </a:ext>
            </a:extLst>
          </p:cNvPr>
          <p:cNvSpPr txBox="1"/>
          <p:nvPr/>
        </p:nvSpPr>
        <p:spPr>
          <a:xfrm>
            <a:off x="255104" y="1738032"/>
            <a:ext cx="6103620" cy="461665"/>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The Live Application</a:t>
            </a:r>
          </a:p>
        </p:txBody>
      </p:sp>
      <p:pic>
        <p:nvPicPr>
          <p:cNvPr id="5" name="Picture 4">
            <a:extLst>
              <a:ext uri="{FF2B5EF4-FFF2-40B4-BE49-F238E27FC236}">
                <a16:creationId xmlns:a16="http://schemas.microsoft.com/office/drawing/2014/main" id="{DACCA1EF-A220-4B2F-8694-47437EE34599}"/>
              </a:ext>
            </a:extLst>
          </p:cNvPr>
          <p:cNvPicPr>
            <a:picLocks noChangeAspect="1"/>
          </p:cNvPicPr>
          <p:nvPr/>
        </p:nvPicPr>
        <p:blipFill>
          <a:blip r:embed="rId2"/>
          <a:stretch>
            <a:fillRect/>
          </a:stretch>
        </p:blipFill>
        <p:spPr>
          <a:xfrm>
            <a:off x="1726095" y="2298542"/>
            <a:ext cx="9263270" cy="4316926"/>
          </a:xfrm>
          <a:prstGeom prst="rect">
            <a:avLst/>
          </a:prstGeom>
        </p:spPr>
      </p:pic>
    </p:spTree>
    <p:extLst>
      <p:ext uri="{BB962C8B-B14F-4D97-AF65-F5344CB8AC3E}">
        <p14:creationId xmlns:p14="http://schemas.microsoft.com/office/powerpoint/2010/main" val="149947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Screenshot of Output</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1DE01316-FF70-4DBE-839E-24CDB864E4DD}"/>
              </a:ext>
            </a:extLst>
          </p:cNvPr>
          <p:cNvSpPr txBox="1"/>
          <p:nvPr/>
        </p:nvSpPr>
        <p:spPr>
          <a:xfrm>
            <a:off x="255104" y="1738032"/>
            <a:ext cx="6103620" cy="461665"/>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The Live Application</a:t>
            </a:r>
          </a:p>
        </p:txBody>
      </p:sp>
      <p:pic>
        <p:nvPicPr>
          <p:cNvPr id="6" name="Picture 5">
            <a:extLst>
              <a:ext uri="{FF2B5EF4-FFF2-40B4-BE49-F238E27FC236}">
                <a16:creationId xmlns:a16="http://schemas.microsoft.com/office/drawing/2014/main" id="{287930EF-3AB8-494B-803F-382956B68CAD}"/>
              </a:ext>
            </a:extLst>
          </p:cNvPr>
          <p:cNvPicPr>
            <a:picLocks noChangeAspect="1"/>
          </p:cNvPicPr>
          <p:nvPr/>
        </p:nvPicPr>
        <p:blipFill>
          <a:blip r:embed="rId2"/>
          <a:stretch>
            <a:fillRect/>
          </a:stretch>
        </p:blipFill>
        <p:spPr>
          <a:xfrm>
            <a:off x="1250555" y="2298542"/>
            <a:ext cx="9690890" cy="4348306"/>
          </a:xfrm>
          <a:prstGeom prst="rect">
            <a:avLst/>
          </a:prstGeom>
        </p:spPr>
      </p:pic>
    </p:spTree>
    <p:extLst>
      <p:ext uri="{BB962C8B-B14F-4D97-AF65-F5344CB8AC3E}">
        <p14:creationId xmlns:p14="http://schemas.microsoft.com/office/powerpoint/2010/main" val="3730758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Screenshot of Output</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1DE01316-FF70-4DBE-839E-24CDB864E4DD}"/>
              </a:ext>
            </a:extLst>
          </p:cNvPr>
          <p:cNvSpPr txBox="1"/>
          <p:nvPr/>
        </p:nvSpPr>
        <p:spPr>
          <a:xfrm>
            <a:off x="255104" y="1738032"/>
            <a:ext cx="6103620" cy="461665"/>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The Live Application</a:t>
            </a:r>
          </a:p>
        </p:txBody>
      </p:sp>
      <p:pic>
        <p:nvPicPr>
          <p:cNvPr id="5" name="Picture 4">
            <a:extLst>
              <a:ext uri="{FF2B5EF4-FFF2-40B4-BE49-F238E27FC236}">
                <a16:creationId xmlns:a16="http://schemas.microsoft.com/office/drawing/2014/main" id="{A34B1003-C560-484C-9D8B-EB41BBE74CD9}"/>
              </a:ext>
            </a:extLst>
          </p:cNvPr>
          <p:cNvPicPr>
            <a:picLocks noChangeAspect="1"/>
          </p:cNvPicPr>
          <p:nvPr/>
        </p:nvPicPr>
        <p:blipFill>
          <a:blip r:embed="rId2"/>
          <a:stretch>
            <a:fillRect/>
          </a:stretch>
        </p:blipFill>
        <p:spPr>
          <a:xfrm>
            <a:off x="1252881" y="2298542"/>
            <a:ext cx="10209697" cy="4425388"/>
          </a:xfrm>
          <a:prstGeom prst="rect">
            <a:avLst/>
          </a:prstGeom>
        </p:spPr>
      </p:pic>
    </p:spTree>
    <p:extLst>
      <p:ext uri="{BB962C8B-B14F-4D97-AF65-F5344CB8AC3E}">
        <p14:creationId xmlns:p14="http://schemas.microsoft.com/office/powerpoint/2010/main" val="1508331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469127" y="1033871"/>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Conclusion</a:t>
            </a:r>
            <a:endParaRPr lang="en-IN" sz="3200"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36CCC8B4-CFC7-4EB2-89B9-517F784CB83E}"/>
              </a:ext>
            </a:extLst>
          </p:cNvPr>
          <p:cNvSpPr txBox="1"/>
          <p:nvPr/>
        </p:nvSpPr>
        <p:spPr>
          <a:xfrm>
            <a:off x="469126" y="1803892"/>
            <a:ext cx="11113273" cy="4708981"/>
          </a:xfrm>
          <a:prstGeom prst="rect">
            <a:avLst/>
          </a:prstGeom>
          <a:noFill/>
        </p:spPr>
        <p:txBody>
          <a:bodyPr wrap="square">
            <a:spAutoFit/>
          </a:bodyPr>
          <a:lstStyle/>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Impact :</a:t>
            </a:r>
            <a:r>
              <a:rPr lang="en-US" sz="2000" dirty="0">
                <a:latin typeface="Cambria" panose="02040503050406030204" pitchFamily="18" charset="0"/>
                <a:ea typeface="Cambria" panose="02040503050406030204" pitchFamily="18" charset="0"/>
              </a:rPr>
              <a:t> This project successfully demonstrates that AI-driven forecasting can create tangible financial value in the energy sector. It provides a "Green Skills" solution by optimizing battery storage, which in turn reduces energy costs and promotes grid stability. </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Educational Value :</a:t>
            </a:r>
            <a:r>
              <a:rPr lang="en-US" sz="2000" dirty="0">
                <a:latin typeface="Cambria" panose="02040503050406030204" pitchFamily="18" charset="0"/>
                <a:ea typeface="Cambria" panose="02040503050406030204" pitchFamily="18" charset="0"/>
              </a:rPr>
              <a:t> I successfully built a complete end-to-end ML pipeline, from raw data cleaning and feature engineering to model training, complex simulation, and finally, deployment of a live web application. </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Next Steps : </a:t>
            </a:r>
          </a:p>
          <a:p>
            <a:pPr marL="342900" indent="-342900">
              <a:buFont typeface="Wingdings" panose="05000000000000000000" pitchFamily="2" charset="2"/>
              <a:buChar char="Ø"/>
            </a:pPr>
            <a:r>
              <a:rPr lang="en-US" sz="2000" dirty="0">
                <a:latin typeface="Cambria" panose="02040503050406030204" pitchFamily="18" charset="0"/>
                <a:ea typeface="Cambria" panose="02040503050406030204" pitchFamily="18" charset="0"/>
              </a:rPr>
              <a:t>Integrate live weather data (e.g., cloud cover, wind speed) via an API to improve the model's forecasting accuracy. </a:t>
            </a:r>
          </a:p>
          <a:p>
            <a:pPr marL="342900" indent="-342900">
              <a:buFont typeface="Wingdings" panose="05000000000000000000" pitchFamily="2" charset="2"/>
              <a:buChar char="Ø"/>
            </a:pPr>
            <a:r>
              <a:rPr lang="en-US" sz="2000" dirty="0">
                <a:latin typeface="Cambria" panose="02040503050406030204" pitchFamily="18" charset="0"/>
                <a:ea typeface="Cambria" panose="02040503050406030204" pitchFamily="18" charset="0"/>
              </a:rPr>
              <a:t>Enhance the arbitrage logic with more complex, real-world battery constraints (e.g., C-rate limits, degradation cost). </a:t>
            </a:r>
          </a:p>
          <a:p>
            <a:pPr marL="342900" indent="-342900">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Live App Link :</a:t>
            </a:r>
            <a:r>
              <a:rPr lang="en-US"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hlinkClick r:id="rId2" tooltip="null"/>
              </a:rPr>
              <a:t>https://ai-electricity-price-forecasting-arbitrage.streamlit.app/</a:t>
            </a:r>
            <a:r>
              <a:rPr lang="en-US" sz="2000" dirty="0">
                <a:latin typeface="Cambria" panose="02040503050406030204" pitchFamily="18" charset="0"/>
                <a:ea typeface="Cambria" panose="02040503050406030204" pitchFamily="18" charset="0"/>
              </a:rPr>
              <a:t> </a:t>
            </a:r>
          </a:p>
          <a:p>
            <a:pPr marL="342900" indent="-34290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Project Repository :</a:t>
            </a:r>
            <a:r>
              <a:rPr lang="en-US"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hlinkClick r:id="rId3" tooltip="null"/>
              </a:rPr>
              <a:t>github.com/Sanjana-</a:t>
            </a:r>
            <a:r>
              <a:rPr lang="en-US" sz="2000" dirty="0" err="1">
                <a:latin typeface="Cambria" panose="02040503050406030204" pitchFamily="18" charset="0"/>
                <a:ea typeface="Cambria" panose="02040503050406030204" pitchFamily="18" charset="0"/>
                <a:hlinkClick r:id="rId3" tooltip="null"/>
              </a:rPr>
              <a:t>Dhabale</a:t>
            </a:r>
            <a:r>
              <a:rPr lang="en-US" sz="2000" dirty="0">
                <a:latin typeface="Cambria" panose="02040503050406030204" pitchFamily="18" charset="0"/>
                <a:ea typeface="Cambria" panose="02040503050406030204" pitchFamily="18" charset="0"/>
                <a:hlinkClick r:id="rId3" tooltip="null"/>
              </a:rPr>
              <a:t>/ai-electricity-price-forecasting</a:t>
            </a:r>
            <a:r>
              <a:rPr lang="en-US" sz="20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99</TotalTime>
  <Words>690</Words>
  <Application>Microsoft Office PowerPoint</Application>
  <PresentationFormat>Widescreen</PresentationFormat>
  <Paragraphs>59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Cambria</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DHAMMADEEP RAMTEKE</cp:lastModifiedBy>
  <cp:revision>9</cp:revision>
  <dcterms:created xsi:type="dcterms:W3CDTF">2024-12-31T09:40:01Z</dcterms:created>
  <dcterms:modified xsi:type="dcterms:W3CDTF">2025-11-17T15:58:15Z</dcterms:modified>
</cp:coreProperties>
</file>